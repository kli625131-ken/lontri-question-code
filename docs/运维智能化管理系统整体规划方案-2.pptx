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62" r:id="rId8"/>
    <p:sldId id="263" r:id="rId9"/>
    <p:sldId id="264" r:id="rId10"/>
    <p:sldId id="265" r:id="rId11"/>
    <p:sldId id="27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运维智能化管理系统整体规划方案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7967663" y="2976563"/>
            <a:ext cx="604838" cy="114300"/>
          </a:xfrm>
          <a:prstGeom prst="rect">
            <a:avLst/>
          </a:prstGeom>
          <a:solidFill>
            <a:srgbClr val="3D99FF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725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Ken 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6452" b="6452"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痛点分析与系统化建设愿景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核心目标与分阶段演进路径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痛点分析与系统化建设愿景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482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004" r="1004"/>
          <a:stretch>
            <a:fillRect/>
          </a:stretch>
        </p:blipFill>
        <p:spPr>
          <a:xfrm>
            <a:off x="0" y="0"/>
            <a:ext cx="9144000" cy="5248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痛点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分析</a:t>
            </a: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：当前运维管理面临数据分散、流程手工（手动维护）、知识断层三大核心挑战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82880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15741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数字化缺失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405063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</a:t>
            </a:r>
            <a:r>
              <a:rPr lang="zh-CN" alt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运维维护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依赖纸质或本地文件，缺乏统一平台支撑，数据孤岛严重。版本混乱导致执行标准不一，易遗漏关键项。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182880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15741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文档分散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40506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文档多点存储，结构松散且命名不</a:t>
            </a:r>
            <a:r>
              <a:rPr lang="zh-CN" alt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。查找耗时长，协作效率低，存在误用旧版风险。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182880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15741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知识复用困难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40506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历史调试经验未沉淀为可检索知识库，新人上手慢。重复问题反复解决，整体响应速度受限。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182880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15741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流程追溯乏力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40506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运维过程无留痕机制，变更操作难以追踪源头。</a:t>
            </a:r>
            <a:r>
              <a:rPr lang="zh-CN" alt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风险：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一旦出错，责任界定与回滚修复成本显著增加。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" y="3643313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D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1500" y="3971925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人工维护负担重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1500" y="4219575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大量时间耗费在整理报告、归档文件等低价值事务。人力资源浪费，影响高阶运维策略的投入与优化。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435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5230" b="5230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构建覆盖调试、日常运维、节假日模式、巡检全生命周期的一体化智能管理平台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6865" y="1638300"/>
            <a:ext cx="7867650" cy="330771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09650" y="3126740"/>
            <a:ext cx="1294765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400" b="0" i="0">
                <a:solidFill>
                  <a:srgbClr val="060A26"/>
                </a:solidFill>
                <a:latin typeface="system-ui"/>
                <a:ea typeface="system-ui"/>
              </a:rPr>
              <a:t>智能运维平台 </a:t>
            </a:r>
            <a:endParaRPr lang="zh-CN" altLang="en-US" sz="14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974975" y="1769745"/>
            <a:ext cx="111823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200" b="0" i="0">
                <a:solidFill>
                  <a:srgbClr val="060A26"/>
                </a:solidFill>
                <a:latin typeface="system-ui"/>
                <a:ea typeface="system-ui"/>
              </a:rPr>
              <a:t>全周期管理</a:t>
            </a:r>
            <a:endParaRPr lang="zh-CN" altLang="en-US" sz="12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2974975" y="2325370"/>
            <a:ext cx="111823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200" b="0" i="0">
                <a:solidFill>
                  <a:srgbClr val="060A26"/>
                </a:solidFill>
                <a:latin typeface="system-ui"/>
                <a:ea typeface="system-ui"/>
              </a:rPr>
              <a:t>智能调度</a:t>
            </a:r>
            <a:endParaRPr lang="zh-CN" altLang="en-US" sz="12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30" name="文本框 29"/>
          <p:cNvSpPr txBox="1"/>
          <p:nvPr>
            <p:custDataLst>
              <p:tags r:id="rId5"/>
            </p:custDataLst>
          </p:nvPr>
        </p:nvSpPr>
        <p:spPr>
          <a:xfrm>
            <a:off x="2974975" y="2880995"/>
            <a:ext cx="111823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200" b="0" i="0">
                <a:solidFill>
                  <a:srgbClr val="060A26"/>
                </a:solidFill>
                <a:latin typeface="system-ui"/>
                <a:ea typeface="system-ui"/>
              </a:rPr>
              <a:t>数字巡检</a:t>
            </a:r>
            <a:endParaRPr lang="zh-CN" altLang="en-US" sz="12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31" name="文本框 30"/>
          <p:cNvSpPr txBox="1"/>
          <p:nvPr>
            <p:custDataLst>
              <p:tags r:id="rId6"/>
            </p:custDataLst>
          </p:nvPr>
        </p:nvSpPr>
        <p:spPr>
          <a:xfrm>
            <a:off x="2974975" y="3436620"/>
            <a:ext cx="111823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200" b="0" i="0">
                <a:solidFill>
                  <a:srgbClr val="060A26"/>
                </a:solidFill>
                <a:latin typeface="system-ui"/>
                <a:ea typeface="system-ui"/>
              </a:rPr>
              <a:t>知识沉淀</a:t>
            </a:r>
            <a:endParaRPr lang="zh-CN" altLang="en-US" sz="12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2974975" y="3992245"/>
            <a:ext cx="111823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200" b="0" i="0">
                <a:solidFill>
                  <a:srgbClr val="060A26"/>
                </a:solidFill>
                <a:latin typeface="system-ui"/>
                <a:ea typeface="system-ui"/>
              </a:rPr>
              <a:t>系统集成</a:t>
            </a:r>
            <a:endParaRPr lang="zh-CN" altLang="en-US" sz="12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2974975" y="4547870"/>
            <a:ext cx="111823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200" b="0" i="0">
                <a:solidFill>
                  <a:srgbClr val="060A26"/>
                </a:solidFill>
                <a:latin typeface="system-ui"/>
                <a:ea typeface="system-ui"/>
              </a:rPr>
              <a:t>SaaS</a:t>
            </a:r>
            <a:r>
              <a:rPr lang="zh-CN" altLang="en-US" sz="1200" b="0" i="0">
                <a:solidFill>
                  <a:srgbClr val="060A26"/>
                </a:solidFill>
                <a:latin typeface="system-ui"/>
                <a:ea typeface="system-ui"/>
              </a:rPr>
              <a:t>模式</a:t>
            </a:r>
            <a:endParaRPr lang="zh-CN" altLang="en-US" sz="1200" b="0" i="0">
              <a:solidFill>
                <a:srgbClr val="060A26"/>
              </a:solidFill>
              <a:latin typeface="system-ui"/>
              <a:ea typeface="system-ui"/>
            </a:endParaRPr>
          </a:p>
        </p:txBody>
      </p:sp>
      <p:sp>
        <p:nvSpPr>
          <p:cNvPr id="34" name="文本框 33"/>
          <p:cNvSpPr txBox="1"/>
          <p:nvPr>
            <p:custDataLst>
              <p:tags r:id="rId9"/>
            </p:custDataLst>
          </p:nvPr>
        </p:nvSpPr>
        <p:spPr>
          <a:xfrm>
            <a:off x="4341495" y="1723390"/>
            <a:ext cx="384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贯通调试、日常运维、节假日模式与巡检阶段，实现设备全生命周期闭环管理。构建</a:t>
            </a:r>
            <a:r>
              <a:rPr lang="en-US" altLang="zh-CN" sz="900"/>
              <a:t>“</a:t>
            </a:r>
            <a:r>
              <a:rPr lang="zh-CN" altLang="en-US" sz="900"/>
              <a:t>问题发现</a:t>
            </a:r>
            <a:r>
              <a:rPr lang="en-US" altLang="zh-CN" sz="900"/>
              <a:t>—</a:t>
            </a:r>
            <a:r>
              <a:rPr lang="zh-CN" altLang="en-US" sz="900"/>
              <a:t>处理</a:t>
            </a:r>
            <a:r>
              <a:rPr lang="en-US" altLang="zh-CN" sz="900"/>
              <a:t>—</a:t>
            </a:r>
            <a:r>
              <a:rPr lang="zh-CN" altLang="en-US" sz="900"/>
              <a:t>沉淀</a:t>
            </a:r>
            <a:r>
              <a:rPr lang="en-US" altLang="zh-CN" sz="900"/>
              <a:t>—</a:t>
            </a:r>
            <a:r>
              <a:rPr lang="zh-CN" altLang="en-US" sz="900"/>
              <a:t>复用</a:t>
            </a:r>
            <a:r>
              <a:rPr lang="en-US" altLang="zh-CN" sz="900"/>
              <a:t>”</a:t>
            </a:r>
            <a:r>
              <a:rPr lang="zh-CN" altLang="en-US" sz="900"/>
              <a:t>的持续优化机制。</a:t>
            </a:r>
            <a:endParaRPr lang="zh-CN" altLang="en-US" sz="900"/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4341495" y="2279015"/>
            <a:ext cx="384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基于数据分析与</a:t>
            </a:r>
            <a:r>
              <a:rPr lang="en-US" altLang="zh-CN" sz="900"/>
              <a:t>AI</a:t>
            </a:r>
            <a:r>
              <a:rPr lang="zh-CN" altLang="en-US" sz="900"/>
              <a:t>能力，自动生成运行策略与响应建议，提升处理效率与准确性。支撑多项目并行运维场景的精细化管理。</a:t>
            </a:r>
            <a:endParaRPr lang="zh-CN" altLang="en-US" sz="900"/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341495" y="2834640"/>
            <a:ext cx="384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结合物联网感知数据与移动端记录，实现线上</a:t>
            </a:r>
            <a:r>
              <a:rPr lang="en-US" altLang="zh-CN" sz="900"/>
              <a:t>+</a:t>
            </a:r>
            <a:r>
              <a:rPr lang="zh-CN" altLang="en-US" sz="900"/>
              <a:t>线下巡检一体化管理。自动生成巡检报告与对比分析，提升交付专业度。</a:t>
            </a:r>
            <a:endParaRPr lang="zh-CN" altLang="en-US" sz="900"/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4341495" y="3390265"/>
            <a:ext cx="384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将调试与运维问题结构化归档，形成可复用知识库体系。支持问题快速检索与智能匹配，提升响应效率。</a:t>
            </a:r>
            <a:endParaRPr lang="zh-CN" altLang="en-US" sz="900"/>
          </a:p>
        </p:txBody>
      </p: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4341495" y="3945890"/>
            <a:ext cx="384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融合设备管理、告警监控、策略配置与数据分析模块，实现统一平台管控。为</a:t>
            </a:r>
            <a:r>
              <a:rPr lang="en-US" altLang="zh-CN" sz="900"/>
              <a:t>AI</a:t>
            </a:r>
            <a:r>
              <a:rPr lang="zh-CN" altLang="en-US" sz="900"/>
              <a:t>定位分析与链路诊断提供数据基础。</a:t>
            </a:r>
            <a:endParaRPr lang="zh-CN" altLang="en-US" sz="900"/>
          </a:p>
        </p:txBody>
      </p: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4341495" y="4501515"/>
            <a:ext cx="384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构建多租户架构，实现公司级数据隔离与统一运维管理。形成可持续服务化模式，推动产品商业化与规模化发展。</a:t>
            </a:r>
            <a:endParaRPr lang="zh-CN" alt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核心目标与分阶段演进路径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5960" r="5960"/>
          <a:stretch>
            <a:fillRect/>
          </a:stretch>
        </p:blipFill>
        <p:spPr>
          <a:xfrm>
            <a:off x="0" y="0"/>
            <a:ext cx="9144000" cy="58388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实现运维数据统一汇聚、流程自动流转与报告智能生成的核心目标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数据集中存储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对接多源系统，实现运维数据向MySQL的集中存储。通过标准化清洗打破信息孤岛，保障数据一致性与实时同步。为上层应用提供稳定、高质量的数据基础。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流程自动化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基于事件驱动架构构建自动化工作流引擎。实现故障告警、工单派发与处理反馈的闭环管理。显著减少人工干预，提升运维响应效率。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智能报告生成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结合模板引擎与自然语言生成技术，自动产出巡检与故障分析报告。支持定时推送与自定义格式输出。有效减轻运维人员文档负担。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数据驱动基础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数据汇聚是智能化运维的前提，支撑后续自动化与智能化操作。确保信息可追溯、可分析。为决策提供实时数据依据。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43625" y="42243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48200" y="4614863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闭环运维管理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48200" y="4905375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从告警到反馈全流程自动化，形成运维操作闭环。提升问题处理的及时性与规范性。强化跨系统协同能力。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33675" y="42243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238250" y="4614863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体系协同演进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238250" y="4905375"/>
            <a:ext cx="32575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三大目标层层递进，推动运维体系持续迭代。数据、流程与智能输出协同发展。实现运维智能化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SaaS化服务化</a:t>
            </a:r>
            <a:r>
              <a:rPr lang="zh-CN" alt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降低客户接入门槛。提升产品商业化能力。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AI深度介入：从问答匹配到链路定位，打造智能运维助手终极形态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智能问答引擎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基于NLP技术构建运维知识库，实现自然语言提问到故障解决方案的精准匹配。支持多轮对话与上下文理解，提升一线人员响应效率。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链路定位AI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利用图神经网络与拓扑分析，自动追踪故障传播路径，快速锁定根因节点。结合实时监控数据，实现分钟级诊断闭环。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自进化系统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通过机器学习持续沉淀历史工单与专家经验，动态优化模型准确性。支持在线学习与反馈闭环，让运维助手越用越聪明。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3D99FF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2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3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4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5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6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7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8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9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10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11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ags/tag12.xml><?xml version="1.0" encoding="utf-8"?>
<p:tagLst xmlns:p="http://schemas.openxmlformats.org/presentationml/2006/main">
  <p:tag name="KSO_WM_DIAGRAM_VIRTUALLY_FRAME" val="{&quot;height&quot;:247.75,&quot;left&quot;:243.05,&quot;top&quot;:120.1,&quot;width&quot;:410.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WPS 演示</Application>
  <PresentationFormat>On-screen Show (16:9)</PresentationFormat>
  <Paragraphs>139</Paragraphs>
  <Slides>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system-ui</vt:lpstr>
      <vt:lpstr>AMGDT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李jun葵</cp:lastModifiedBy>
  <cp:revision>5</cp:revision>
  <dcterms:created xsi:type="dcterms:W3CDTF">2026-03-01T06:43:00Z</dcterms:created>
  <dcterms:modified xsi:type="dcterms:W3CDTF">2026-06-04T10:15:08Z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EFB8C82643BD4966A99F184376BB7A89_13</vt:lpwstr>
  </property>
</Properties>
</file>